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03" r:id="rId3"/>
    <p:sldId id="263" r:id="rId4"/>
    <p:sldId id="302" r:id="rId5"/>
    <p:sldId id="304" r:id="rId6"/>
    <p:sldId id="30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0EE38-4C6E-4D84-90E7-B0C4C339452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B4CC9-3B60-41CF-883C-880096E0F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23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B4CC9-3B60-41CF-883C-880096E0F3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24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FBE5D-E469-CA03-6672-FF44C912C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0C6FB5-005F-4A55-949A-7956508C7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412318-B758-7261-26D0-A2C3949A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20771-41D1-A60C-1D53-76617A93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F9A10F-D85C-0992-C676-8B867B2E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1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B4D02-E544-1987-792E-99E6EAF5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8BA86-9ED9-72D0-1FD9-D69C1A9CD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BFD739-5F38-9BD1-5EC1-D632542C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EB66ED-FAEF-E352-1DC2-D64D3913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873C2-30C3-163F-5843-A365094B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2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60A0-2319-0DC4-2084-BD7180B2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345A3A-9511-4799-CD0E-12F22F45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63E391-5BF3-7E94-AF06-DD0BC6D5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838C3-9560-0F29-2897-F6372BDC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D13D2F-9393-E796-41E6-04371230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93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BBE97-12E4-4F5E-995D-FB700E88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455F5-DEBA-D78E-671A-1A7E103E7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F1D289-EF51-9334-7B8F-081C8C33C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D18A97-4097-682A-023B-B2506757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305D21-6A43-0FEB-E2B6-79DC01840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D7D5DC-3808-2D18-B42A-E5D57315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39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A5F52-ACEC-A74D-6AD6-507A3EC8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3405E3-89F5-5549-1B67-C3571101A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E4B7B-3219-988D-A089-29071994B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19C654-4EEA-870D-9F3A-4E24D8C59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65F938-EB7A-15FE-C4F2-FE39C7236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565088-5E00-2CA9-BFF9-F5FBE2E8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9F5BA6-833E-E756-B120-60483EE6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8FFE6A-471E-DFC7-FF12-22CA2267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41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7A448-68ED-91F4-9C50-C2B0DED7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3A158B-C395-6BBF-DEA9-64576CDD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F1C0DF-725F-F0E7-4905-CE59550F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32CF5F-8241-6121-3175-C41B3ABE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74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A18EDC-58EC-F3F0-8749-55290195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66E286-D642-F524-D159-F3517D98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CC8A6F-56F6-5567-A4E8-2FF73912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63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D4431-6182-DB31-0F5C-0B87D3A6C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48AF7-78F1-54DB-9356-005C6D45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077579-C005-E04E-2863-38E508ACE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A6230D-FF5F-1D45-A626-2A937725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4E123B-879C-BC37-B5B9-CF8571BF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F4C515-E639-8638-34D1-ED05B187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03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211D1-F47A-DB1F-E57C-97A4CB47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9A7D7-FB69-2AC0-131C-1202DACE5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8505AF-30B4-A934-7535-387FF3010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88A543-F0AB-88A5-29D6-C5A44C1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C3645-10E4-39E3-CA79-FF222D5E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7A2D20-F596-2889-23EA-0015020F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44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49C22-444B-9A36-0DD7-21A78256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D2360B-6ED0-236B-064A-862011A32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F09AC-0BBA-862B-CCA1-F0124EEC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3A0FBE-37D5-A781-B530-3FC4C12C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0BBCC2-D463-49AB-3654-8C1DA8A1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83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73A98C-AE19-3244-50CA-81A1DC703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40A86E-5EEA-D47A-A1A3-1AB4972AD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482A3C-99EF-8E89-72BA-93E4D4F5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A2771-9CDB-21E3-5A12-5E39BD4C3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14E6C-7180-BAD8-B2C5-89D27BAF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654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97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A2EAE2-2858-7CC6-0996-39534E9D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6DF42F-97D6-0AE1-66D6-485ABFFFA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0BD371-EA2B-420C-26D6-1C105DA47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83D60-1BBB-4BB8-991B-7163534D27DA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446FEA-95A5-B034-5356-E200603B8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1734D1-7BD0-A5AB-D4A0-0E44A41FF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47CBA-9FF3-440B-BFD8-6C39773DD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94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book/9781437706604" TargetMode="External"/><Relationship Id="rId2" Type="http://schemas.openxmlformats.org/officeDocument/2006/relationships/hyperlink" Target="https://doi.org/10.1021/acs.jchemed.4c01404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6190629"/>
            <a:ext cx="12192000" cy="667369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2191941" cy="6857996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741070" y="759942"/>
            <a:ext cx="9961244" cy="2506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CASA0016:</a:t>
            </a:r>
            <a:r>
              <a:rPr sz="2400" b="1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Making, designing &amp;</a:t>
            </a:r>
            <a:r>
              <a:rPr sz="2400" b="1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building connected sensor syste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ms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rtl="0" eaLnBrk="0">
              <a:lnSpc>
                <a:spcPct val="78000"/>
              </a:lnSpc>
              <a:tabLst/>
            </a:pPr>
            <a:r>
              <a:rPr lang="en-US" altLang="zh-CN" sz="6000" b="1" kern="0" spc="-3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 Litter Monitor</a:t>
            </a:r>
            <a:endParaRPr sz="6000" dirty="0">
              <a:latin typeface="Arial"/>
              <a:ea typeface="Arial"/>
              <a:cs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68509" y="6251286"/>
            <a:ext cx="2463800" cy="571498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983413" y="4408611"/>
            <a:ext cx="2687954" cy="1036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0000"/>
              </a:lnSpc>
              <a:tabLst/>
            </a:pPr>
            <a:r>
              <a:rPr lang="en-US" altLang="zh-CN" sz="30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Xintong Shao</a:t>
            </a:r>
          </a:p>
          <a:p>
            <a:pPr marL="12700" algn="l" rtl="0" eaLnBrk="0">
              <a:lnSpc>
                <a:spcPct val="150000"/>
              </a:lnSpc>
              <a:tabLst/>
            </a:pPr>
            <a:r>
              <a:rPr lang="en-US" sz="30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25124122</a:t>
            </a:r>
            <a:endParaRPr sz="3000" dirty="0">
              <a:latin typeface="Arial"/>
              <a:ea typeface="Arial"/>
              <a:cs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82818" y="4587303"/>
            <a:ext cx="625769" cy="85794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6961" y="6321671"/>
            <a:ext cx="371055" cy="454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BBD9-EE8F-F03A-76F3-963FFFC5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8">
            <a:extLst>
              <a:ext uri="{FF2B5EF4-FFF2-40B4-BE49-F238E27FC236}">
                <a16:creationId xmlns:a16="http://schemas.microsoft.com/office/drawing/2014/main" id="{55A6C3C6-2A99-6F93-E683-BE1FFE6739A4}"/>
              </a:ext>
            </a:extLst>
          </p:cNvPr>
          <p:cNvSpPr/>
          <p:nvPr/>
        </p:nvSpPr>
        <p:spPr>
          <a:xfrm>
            <a:off x="534829" y="529650"/>
            <a:ext cx="8082915" cy="668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lang="en-US" altLang="zh-CN" sz="4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I have done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97C1BA-8BD1-B595-B17A-3E05D45DA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458" y="973319"/>
            <a:ext cx="5157672" cy="561329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2F673B2-1A6F-CE6F-15D2-C5BDFB4EA57A}"/>
              </a:ext>
            </a:extLst>
          </p:cNvPr>
          <p:cNvSpPr txBox="1"/>
          <p:nvPr/>
        </p:nvSpPr>
        <p:spPr>
          <a:xfrm>
            <a:off x="601249" y="1471808"/>
            <a:ext cx="56805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smart environmental monitoring system for a cat litter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 how many times a cat uses the litter box.</a:t>
            </a:r>
          </a:p>
          <a:p>
            <a:pPr algn="just"/>
            <a:endParaRPr lang="en-US" altLang="zh-C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ventilate the area when odor levels increase.</a:t>
            </a:r>
          </a:p>
          <a:p>
            <a:pPr algn="just"/>
            <a:endParaRPr lang="en-US" altLang="zh-C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the odor exceeds the set limit, the buzzer will sound an alarm to alert for cleaning.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27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8"/>
          <p:cNvSpPr/>
          <p:nvPr/>
        </p:nvSpPr>
        <p:spPr>
          <a:xfrm>
            <a:off x="539276" y="440485"/>
            <a:ext cx="8082915" cy="536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lang="en-US" altLang="zh-CN" sz="4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Motivation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655F3F-288C-31F1-C8E6-37C46D2998A1}"/>
              </a:ext>
            </a:extLst>
          </p:cNvPr>
          <p:cNvSpPr txBox="1"/>
          <p:nvPr/>
        </p:nvSpPr>
        <p:spPr>
          <a:xfrm>
            <a:off x="388307" y="1127342"/>
            <a:ext cx="69895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Cat litter produces ammonia from the bacterial breakdown of urea and other nitrogen compounds, which impacts indoor air quality (Trujillo &amp; Dimas-Correa, 2025).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Changes in urination </a:t>
            </a:r>
            <a:r>
              <a:rPr lang="en-US" altLang="zh-CN" dirty="0" err="1"/>
              <a:t>behaviour</a:t>
            </a:r>
            <a:r>
              <a:rPr lang="en-US" altLang="zh-CN" dirty="0"/>
              <a:t>—such as increased frequency—are common clinical signs of feline lower urinary tract disease (FLUTD) (Little, 2011).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/>
              <a:t>Monitoring both odor levels and litter box usage can therefore support early detection of urinary issues and improve feline welfare.</a:t>
            </a:r>
            <a:endParaRPr lang="zh-CN" altLang="en-US" dirty="0"/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4EBFE626-7621-FDFF-6608-D76D18DE1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887" y="4266663"/>
            <a:ext cx="6244225" cy="2259181"/>
          </a:xfrm>
          <a:prstGeom prst="rect">
            <a:avLst/>
          </a:prstGeom>
        </p:spPr>
      </p:pic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52404F9-3748-0CF8-3A03-3F39FA71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617" y="466594"/>
            <a:ext cx="4546710" cy="2962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37D3-3078-BA56-413B-DD32BB9FD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>
            <a:extLst>
              <a:ext uri="{FF2B5EF4-FFF2-40B4-BE49-F238E27FC236}">
                <a16:creationId xmlns:a16="http://schemas.microsoft.com/office/drawing/2014/main" id="{06D4C057-0DD3-54A4-0F75-EE7E81D39322}"/>
              </a:ext>
            </a:extLst>
          </p:cNvPr>
          <p:cNvSpPr/>
          <p:nvPr/>
        </p:nvSpPr>
        <p:spPr>
          <a:xfrm>
            <a:off x="414554" y="1438569"/>
            <a:ext cx="6205220" cy="5253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8500" indent="-222250" algn="l" rtl="0" eaLnBrk="0">
              <a:lnSpc>
                <a:spcPct val="81000"/>
              </a:lnSpc>
              <a:tabLst>
                <a:tab pos="600075" algn="l"/>
              </a:tabLst>
            </a:pPr>
            <a:r>
              <a:rPr sz="2600" kern="0" spc="0" dirty="0">
                <a:solidFill>
                  <a:srgbClr val="0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68DF886-62E0-E7FD-D34E-AAB84831A01B}"/>
              </a:ext>
            </a:extLst>
          </p:cNvPr>
          <p:cNvSpPr/>
          <p:nvPr/>
        </p:nvSpPr>
        <p:spPr>
          <a:xfrm>
            <a:off x="627497" y="516796"/>
            <a:ext cx="8082915" cy="74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lang="en-US" altLang="zh-CN" sz="4400" kern="0" spc="-20" dirty="0" err="1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Github</a:t>
            </a:r>
            <a:endParaRPr sz="12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961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8C08-BEC1-C56C-B7F8-97C49EDA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>
            <a:extLst>
              <a:ext uri="{FF2B5EF4-FFF2-40B4-BE49-F238E27FC236}">
                <a16:creationId xmlns:a16="http://schemas.microsoft.com/office/drawing/2014/main" id="{75EEC92E-E75A-D357-5095-C0AAF4E6BF6B}"/>
              </a:ext>
            </a:extLst>
          </p:cNvPr>
          <p:cNvSpPr/>
          <p:nvPr/>
        </p:nvSpPr>
        <p:spPr>
          <a:xfrm>
            <a:off x="414554" y="1438569"/>
            <a:ext cx="6205220" cy="5253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8500" indent="-222250" algn="l" rtl="0" eaLnBrk="0">
              <a:lnSpc>
                <a:spcPct val="81000"/>
              </a:lnSpc>
              <a:tabLst>
                <a:tab pos="600075" algn="l"/>
              </a:tabLst>
            </a:pPr>
            <a:r>
              <a:rPr sz="2600" kern="0" spc="0" dirty="0">
                <a:solidFill>
                  <a:srgbClr val="0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A973FD4-4DE4-2138-8AC3-1CFAB18C3DDB}"/>
              </a:ext>
            </a:extLst>
          </p:cNvPr>
          <p:cNvSpPr/>
          <p:nvPr/>
        </p:nvSpPr>
        <p:spPr>
          <a:xfrm>
            <a:off x="414554" y="303854"/>
            <a:ext cx="8082915" cy="74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lang="en-US" altLang="zh-CN" sz="4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References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900870-1166-7D36-D337-91CD2A3441EE}"/>
              </a:ext>
            </a:extLst>
          </p:cNvPr>
          <p:cNvSpPr txBox="1"/>
          <p:nvPr/>
        </p:nvSpPr>
        <p:spPr>
          <a:xfrm>
            <a:off x="557408" y="1490597"/>
            <a:ext cx="111669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Trujillo, C.-A. and Dimas-Correa, J. D. (2025) ‘Cat Litter Evaluation for Its Ammonia Adsorption Capacity.’ </a:t>
            </a:r>
            <a:r>
              <a:rPr lang="en-US" altLang="zh-CN" i="1" dirty="0"/>
              <a:t>Journal of chemical education. </a:t>
            </a:r>
            <a:r>
              <a:rPr lang="en-US" altLang="zh-CN" dirty="0"/>
              <a:t>102 (5), pp. 2079–2086. </a:t>
            </a:r>
            <a:r>
              <a:rPr lang="en-US" altLang="zh-CN" dirty="0" err="1"/>
              <a:t>doi</a:t>
            </a:r>
            <a:r>
              <a:rPr lang="en-US" altLang="zh-CN" dirty="0"/>
              <a:t>: </a:t>
            </a:r>
            <a:r>
              <a:rPr lang="en-US" altLang="zh-CN" dirty="0">
                <a:hlinkClick r:id="rId2"/>
              </a:rPr>
              <a:t>https://doi.org/10.1021/acs.jchemed.</a:t>
            </a:r>
            <a:r>
              <a:rPr lang="en-US" altLang="zh-CN">
                <a:hlinkClick r:id="rId2"/>
              </a:rPr>
              <a:t>4c01404</a:t>
            </a:r>
            <a:r>
              <a:rPr lang="en-US" altLang="zh-CN"/>
              <a:t> (Accessed at: December 2, 2025)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Little, S. E. (2012) </a:t>
            </a:r>
            <a:r>
              <a:rPr lang="en-US" altLang="zh-CN" i="1" dirty="0"/>
              <a:t>The cat : clinical medicine and management. </a:t>
            </a:r>
            <a:r>
              <a:rPr lang="en-US" altLang="zh-CN" dirty="0"/>
              <a:t>Susan Little. St. Louis, MO: Saunders. PP. 982 – 983. Available at: </a:t>
            </a:r>
            <a:r>
              <a:rPr lang="en-US" altLang="zh-CN" dirty="0">
                <a:hlinkClick r:id="rId3"/>
              </a:rPr>
              <a:t>https://www.sciencedirect.com/science/book/9781437706604</a:t>
            </a:r>
            <a:r>
              <a:rPr lang="en-US" altLang="zh-CN" dirty="0"/>
              <a:t> (Accessed at: December 7, 2025)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652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rect 656"/>
          <p:cNvSpPr/>
          <p:nvPr/>
        </p:nvSpPr>
        <p:spPr>
          <a:xfrm>
            <a:off x="0" y="6196979"/>
            <a:ext cx="12192000" cy="661019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58" name="picture 6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1999" cy="6754986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4600148" y="2806664"/>
            <a:ext cx="3461929" cy="941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"/>
              </a:spcBef>
              <a:tabLst/>
            </a:pPr>
            <a:r>
              <a:rPr lang="en-US" altLang="zh-CN" sz="6000" b="1" kern="0" spc="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Thanks </a:t>
            </a:r>
            <a:r>
              <a:rPr lang="zh-CN" altLang="en-US" sz="6000" b="1" kern="0" spc="0" dirty="0">
                <a:solidFill>
                  <a:srgbClr val="F2F2F2">
                    <a:alpha val="100000"/>
                  </a:srgbClr>
                </a:solidFill>
                <a:latin typeface="Arial"/>
                <a:ea typeface="Arial"/>
                <a:cs typeface="Arial"/>
              </a:rPr>
              <a:t>！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662" name="picture 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190629"/>
            <a:ext cx="12192000" cy="667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278</Words>
  <Application>Microsoft Office PowerPoint</Application>
  <PresentationFormat>宽屏</PresentationFormat>
  <Paragraphs>50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新童 邵</dc:creator>
  <cp:lastModifiedBy>新童 邵</cp:lastModifiedBy>
  <cp:revision>2</cp:revision>
  <dcterms:created xsi:type="dcterms:W3CDTF">2025-12-08T23:13:38Z</dcterms:created>
  <dcterms:modified xsi:type="dcterms:W3CDTF">2025-12-10T00:27:05Z</dcterms:modified>
</cp:coreProperties>
</file>